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928"/>
        </a:solidFill>
        <a:effectLst/>
      </p:bgPr>
    </p:bg>
    <p:spTree>
      <p:nvGrpSpPr>
        <p:cNvPr id="1" name=""/>
        <p:cNvGrpSpPr/>
        <p:nvPr/>
      </p:nvGrpSpPr>
      <p:grpSpPr/>
      <p:sp>
        <p:nvSpPr>
          <p:cNvPr id="2" name="TextBox 1"/>
          <p:cNvSpPr txBox="1"/>
          <p:nvPr/>
        </p:nvSpPr>
        <p:spPr>
          <a:xfrm>
            <a:off x="914400" y="1828800"/>
            <a:ext cx="10362895" cy="4114800"/>
          </a:xfrm>
          <a:prstGeom prst="rect">
            <a:avLst/>
          </a:prstGeom>
          <a:noFill/>
        </p:spPr>
        <p:txBody>
          <a:bodyPr wrap="square">
            <a:spAutoFit/>
          </a:bodyPr>
          <a:lstStyle/>
          <a:p>
            <a:pPr>
              <a:defRPr sz="4400" b="1">
                <a:solidFill>
                  <a:srgbClr val="FFFFFF"/>
                </a:solidFill>
                <a:latin typeface="Helvetica"/>
              </a:defRPr>
            </a:pPr>
            <a:r>
              <a:t>Classroom Attendance Prediction</a:t>
            </a:r>
          </a:p>
          <a:p>
            <a:pPr>
              <a:spcAft>
                <a:spcPts val="4000"/>
              </a:spcAft>
              <a:defRPr sz="2400">
                <a:solidFill>
                  <a:srgbClr val="00F2FE"/>
                </a:solidFill>
                <a:latin typeface="Helvetica"/>
              </a:defRPr>
            </a:pPr>
            <a:r>
              <a:t>Using Academic Schedule and Historical Attendance Data</a:t>
            </a:r>
          </a:p>
          <a:p>
            <a:pPr>
              <a:defRPr sz="1600">
                <a:solidFill>
                  <a:srgbClr val="8FA0B5"/>
                </a:solidFill>
                <a:latin typeface="Helvetica"/>
              </a:defRPr>
            </a:pPr>
            <a:r>
              <a:t>A Privacy-Preserving System for Lecture-Level Analysis</a:t>
            </a:r>
            <a:br/>
            <a:r>
              <a:t>MCA Final Year | Semester III Project</a:t>
            </a:r>
            <a:br/>
            <a:r>
              <a:t>Date: 2026-08-30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928"/>
        </a:solidFill>
        <a:effectLst/>
      </p:bgPr>
    </p:bg>
    <p:spTree>
      <p:nvGrpSpPr>
        <p:cNvPr id="1" name=""/>
        <p:cNvGrpSpPr/>
        <p:nvPr/>
      </p:nvGrpSpPr>
      <p:grpSpPr/>
      <p:sp>
        <p:nvSpPr>
          <p:cNvPr id="2" name="TextBox 1"/>
          <p:cNvSpPr txBox="1"/>
          <p:nvPr/>
        </p:nvSpPr>
        <p:spPr>
          <a:xfrm>
            <a:off x="685800" y="457200"/>
            <a:ext cx="10820095" cy="914400"/>
          </a:xfrm>
          <a:prstGeom prst="rect">
            <a:avLst/>
          </a:prstGeom>
          <a:noFill/>
        </p:spPr>
        <p:txBody>
          <a:bodyPr wrap="square">
            <a:spAutoFit/>
          </a:bodyPr>
          <a:lstStyle/>
          <a:p>
            <a:pPr>
              <a:defRPr sz="3600" b="1">
                <a:solidFill>
                  <a:srgbClr val="00F2FE"/>
                </a:solidFill>
                <a:latin typeface="Helvetica"/>
              </a:defRPr>
            </a:pPr>
            <a:r>
              <a:t>Scientific Status &amp; Core Findings</a:t>
            </a:r>
          </a:p>
        </p:txBody>
      </p:sp>
      <p:sp>
        <p:nvSpPr>
          <p:cNvPr id="3" name="TextBox 2"/>
          <p:cNvSpPr txBox="1"/>
          <p:nvPr/>
        </p:nvSpPr>
        <p:spPr>
          <a:xfrm>
            <a:off x="685800" y="1645920"/>
            <a:ext cx="10820095" cy="4572000"/>
          </a:xfrm>
          <a:prstGeom prst="rect">
            <a:avLst/>
          </a:prstGeom>
          <a:noFill/>
        </p:spPr>
        <p:txBody>
          <a:bodyPr wrap="square">
            <a:spAutoFit/>
          </a:bodyPr>
          <a:lstStyle/>
          <a:p>
            <a:pPr>
              <a:spcAft>
                <a:spcPts val="1200"/>
              </a:spcAft>
              <a:defRPr sz="2000">
                <a:solidFill>
                  <a:srgbClr val="FFFFFF"/>
                </a:solidFill>
              </a:defRPr>
            </a:pPr>
            <a:r>
              <a:t>• Dataset Scale: Only 18 valid lecture observations are currently available.</a:t>
            </a:r>
          </a:p>
          <a:p>
            <a:pPr>
              <a:spcAft>
                <a:spcPts val="1200"/>
              </a:spcAft>
              <a:defRPr sz="2000">
                <a:solidFill>
                  <a:srgbClr val="FBBF24"/>
                </a:solidFill>
              </a:defRPr>
            </a:pPr>
            <a:r>
              <a:t>• Regression Status (Students_Present): Exploratory only. Model marginally beat the dummy baseline on a test split of only 4 observations. This is insufficient to establish generalization.</a:t>
            </a:r>
          </a:p>
          <a:p>
            <a:pPr>
              <a:spcAft>
                <a:spcPts val="1200"/>
              </a:spcAft>
              <a:defRPr sz="2000">
                <a:solidFill>
                  <a:srgbClr val="F87171"/>
                </a:solidFill>
              </a:defRPr>
            </a:pPr>
            <a:r>
              <a:t>• Classification Status (Attendance_Band): Invalid for operational decisions. All models tied the dummy baseline accuracy of 0.50. The "High" attendance band (&gt;75%) was never observed.</a:t>
            </a:r>
          </a:p>
          <a:p>
            <a:pPr>
              <a:defRPr sz="2000">
                <a:solidFill>
                  <a:srgbClr val="FFFFFF"/>
                </a:solidFill>
              </a:defRPr>
            </a:pPr>
            <a:r>
              <a:t>• Operational Fallback: Historical-average baseline (38.75% attendance / ~31 students) is the primary recommendation for scheduling decisions.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928"/>
        </a:solidFill>
        <a:effectLst/>
      </p:bgPr>
    </p:bg>
    <p:spTree>
      <p:nvGrpSpPr>
        <p:cNvPr id="1" name=""/>
        <p:cNvGrpSpPr/>
        <p:nvPr/>
      </p:nvGrpSpPr>
      <p:grpSpPr/>
      <p:sp>
        <p:nvSpPr>
          <p:cNvPr id="2" name="TextBox 1"/>
          <p:cNvSpPr txBox="1"/>
          <p:nvPr/>
        </p:nvSpPr>
        <p:spPr>
          <a:xfrm>
            <a:off x="685800" y="457200"/>
            <a:ext cx="10820095" cy="914400"/>
          </a:xfrm>
          <a:prstGeom prst="rect">
            <a:avLst/>
          </a:prstGeom>
          <a:noFill/>
        </p:spPr>
        <p:txBody>
          <a:bodyPr wrap="square">
            <a:spAutoFit/>
          </a:bodyPr>
          <a:lstStyle/>
          <a:p>
            <a:pPr>
              <a:defRPr sz="3600" b="1">
                <a:solidFill>
                  <a:srgbClr val="00F2FE"/>
                </a:solidFill>
                <a:latin typeface="Helvetica"/>
              </a:defRPr>
            </a:pPr>
            <a:r>
              <a:t>Problem Statement</a:t>
            </a:r>
          </a:p>
        </p:txBody>
      </p:sp>
      <p:sp>
        <p:nvSpPr>
          <p:cNvPr id="3" name="TextBox 2"/>
          <p:cNvSpPr txBox="1"/>
          <p:nvPr/>
        </p:nvSpPr>
        <p:spPr>
          <a:xfrm>
            <a:off x="685800" y="1645920"/>
            <a:ext cx="10820095" cy="4572000"/>
          </a:xfrm>
          <a:prstGeom prst="rect">
            <a:avLst/>
          </a:prstGeom>
          <a:noFill/>
        </p:spPr>
        <p:txBody>
          <a:bodyPr wrap="square">
            <a:spAutoFit/>
          </a:bodyPr>
          <a:lstStyle/>
          <a:p>
            <a:pPr>
              <a:spcAft>
                <a:spcPts val="1400"/>
              </a:spcAft>
              <a:defRPr sz="2000">
                <a:solidFill>
                  <a:srgbClr val="FFFFFF"/>
                </a:solidFill>
              </a:defRPr>
            </a:pPr>
            <a:r>
              <a:t>• Privacy &amp; Compliance Vulnerability: Storing individual student PII (names, roll numbers, emails) in prediction systems creates security risks and violates student privacy guidelines.</a:t>
            </a:r>
          </a:p>
          <a:p>
            <a:pPr>
              <a:spcAft>
                <a:spcPts val="1400"/>
              </a:spcAft>
              <a:defRPr sz="2000">
                <a:solidFill>
                  <a:srgbClr val="FFFFFF"/>
                </a:solidFill>
              </a:defRPr>
            </a:pPr>
            <a:r>
              <a:t>• Proactive Timetable Management: Departments lack predictive, aggregate tools to understand slot-wise attendance drops before they happen.</a:t>
            </a:r>
          </a:p>
          <a:p>
            <a:pPr>
              <a:defRPr sz="2000">
                <a:solidFill>
                  <a:srgbClr val="00F2FE"/>
                </a:solidFill>
              </a:defRPr>
            </a:pPr>
            <a:r>
              <a:t>• The Lecture-Level Solution: Aggregate data at the lecture slot level. Planners only need to know when and why attendance drops, not who is absent.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928"/>
        </a:solidFill>
        <a:effectLst/>
      </p:bgPr>
    </p:bg>
    <p:spTree>
      <p:nvGrpSpPr>
        <p:cNvPr id="1" name=""/>
        <p:cNvGrpSpPr/>
        <p:nvPr/>
      </p:nvGrpSpPr>
      <p:grpSpPr/>
      <p:sp>
        <p:nvSpPr>
          <p:cNvPr id="2" name="TextBox 1"/>
          <p:cNvSpPr txBox="1"/>
          <p:nvPr/>
        </p:nvSpPr>
        <p:spPr>
          <a:xfrm>
            <a:off x="685800" y="457200"/>
            <a:ext cx="10820095" cy="914400"/>
          </a:xfrm>
          <a:prstGeom prst="rect">
            <a:avLst/>
          </a:prstGeom>
          <a:noFill/>
        </p:spPr>
        <p:txBody>
          <a:bodyPr wrap="square">
            <a:spAutoFit/>
          </a:bodyPr>
          <a:lstStyle/>
          <a:p>
            <a:pPr>
              <a:defRPr sz="3600" b="1">
                <a:solidFill>
                  <a:srgbClr val="00F2FE"/>
                </a:solidFill>
                <a:latin typeface="Helvetica"/>
              </a:defRPr>
            </a:pPr>
            <a:r>
              <a:t>Data Collection &amp; Privacy by Design</a:t>
            </a:r>
          </a:p>
        </p:txBody>
      </p:sp>
      <p:sp>
        <p:nvSpPr>
          <p:cNvPr id="3" name="TextBox 2"/>
          <p:cNvSpPr txBox="1"/>
          <p:nvPr/>
        </p:nvSpPr>
        <p:spPr>
          <a:xfrm>
            <a:off x="685800" y="1645920"/>
            <a:ext cx="10820095" cy="4572000"/>
          </a:xfrm>
          <a:prstGeom prst="rect">
            <a:avLst/>
          </a:prstGeom>
          <a:noFill/>
        </p:spPr>
        <p:txBody>
          <a:bodyPr wrap="square">
            <a:spAutoFit/>
          </a:bodyPr>
          <a:lstStyle/>
          <a:p>
            <a:pPr>
              <a:spcAft>
                <a:spcPts val="1200"/>
              </a:spcAft>
              <a:defRPr sz="1800">
                <a:solidFill>
                  <a:srgbClr val="FFFFFF"/>
                </a:solidFill>
              </a:defRPr>
            </a:pPr>
            <a:r>
              <a:t>• Core Administrative Sources: Master Timetable (slots, classrooms), Faculty Registers (headcounts), Academic Calendar (holiday buffers), Continuous Evaluation Schedule (tests).</a:t>
            </a:r>
          </a:p>
          <a:p>
            <a:pPr>
              <a:spcAft>
                <a:spcPts val="1200"/>
              </a:spcAft>
              <a:defRPr sz="1800">
                <a:solidFill>
                  <a:srgbClr val="00F2FE"/>
                </a:solidFill>
              </a:defRPr>
            </a:pPr>
            <a:r>
              <a:t>• Zero Student PII: No names, roll numbers, or college email IDs are collected, processed, or stored.</a:t>
            </a:r>
          </a:p>
          <a:p>
            <a:pPr>
              <a:spcAft>
                <a:spcPts val="1200"/>
              </a:spcAft>
              <a:defRPr sz="1800">
                <a:solidFill>
                  <a:srgbClr val="FFFFFF"/>
                </a:solidFill>
              </a:defRPr>
            </a:pPr>
            <a:r>
              <a:t>• Faculty Anonymization: Instructor identifiers are mapped to codes (e.g. F_01, F_02) before modeling to protect teacher privacy.</a:t>
            </a:r>
          </a:p>
          <a:p>
            <a:pPr>
              <a:defRPr sz="1800">
                <a:solidFill>
                  <a:srgbClr val="FFFFFF"/>
                </a:solidFill>
              </a:defRPr>
            </a:pPr>
            <a:r>
              <a:t>• Strict Source Integrity: All original files remain read-only inputs. Preprocessing outputs are written to dedicated pipelines.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928"/>
        </a:solidFill>
        <a:effectLst/>
      </p:bgPr>
    </p:bg>
    <p:spTree>
      <p:nvGrpSpPr>
        <p:cNvPr id="1" name=""/>
        <p:cNvGrpSpPr/>
        <p:nvPr/>
      </p:nvGrpSpPr>
      <p:grpSpPr/>
      <p:sp>
        <p:nvSpPr>
          <p:cNvPr id="2" name="TextBox 1"/>
          <p:cNvSpPr txBox="1"/>
          <p:nvPr/>
        </p:nvSpPr>
        <p:spPr>
          <a:xfrm>
            <a:off x="685800" y="457200"/>
            <a:ext cx="10820095" cy="914400"/>
          </a:xfrm>
          <a:prstGeom prst="rect">
            <a:avLst/>
          </a:prstGeom>
          <a:noFill/>
        </p:spPr>
        <p:txBody>
          <a:bodyPr wrap="square">
            <a:spAutoFit/>
          </a:bodyPr>
          <a:lstStyle/>
          <a:p>
            <a:pPr>
              <a:defRPr sz="3600" b="1">
                <a:solidFill>
                  <a:srgbClr val="00F2FE"/>
                </a:solidFill>
                <a:latin typeface="Helvetica"/>
              </a:defRPr>
            </a:pPr>
            <a:r>
              <a:t>Standardized Schema &amp; Validation</a:t>
            </a:r>
          </a:p>
        </p:txBody>
      </p:sp>
      <p:sp>
        <p:nvSpPr>
          <p:cNvPr id="3" name="TextBox 2"/>
          <p:cNvSpPr txBox="1"/>
          <p:nvPr/>
        </p:nvSpPr>
        <p:spPr>
          <a:xfrm>
            <a:off x="685800" y="1645920"/>
            <a:ext cx="10820095" cy="4572000"/>
          </a:xfrm>
          <a:prstGeom prst="rect">
            <a:avLst/>
          </a:prstGeom>
          <a:noFill/>
        </p:spPr>
        <p:txBody>
          <a:bodyPr wrap="square">
            <a:spAutoFit/>
          </a:bodyPr>
          <a:lstStyle/>
          <a:p>
            <a:pPr>
              <a:spcAft>
                <a:spcPts val="1000"/>
              </a:spcAft>
              <a:defRPr sz="1800">
                <a:solidFill>
                  <a:srgbClr val="FFFFFF"/>
                </a:solidFill>
              </a:defRPr>
            </a:pPr>
            <a:r>
              <a:t>• Schema Structure: 23 standardized columns mapping temporal features (Date, Day_of_Week), scheduling (Lecture_Number, Subject, Faculty_ID), and academic context (Test_Week, Assignment_Due, Holiday_Before_After).</a:t>
            </a:r>
          </a:p>
          <a:p>
            <a:pPr>
              <a:spcAft>
                <a:spcPts val="1000"/>
              </a:spcAft>
              <a:defRPr sz="1800">
                <a:solidFill>
                  <a:srgbClr val="FFFFFF"/>
                </a:solidFill>
              </a:defRPr>
            </a:pPr>
            <a:r>
              <a:t>• 16 Automated Integrity Rules: Validated by validate_raw_data.py to enforce constraints like present count &lt;= enrolled capacity, non-negative inputs, matching formats, and PII absence.</a:t>
            </a:r>
          </a:p>
          <a:p>
            <a:pPr>
              <a:spcAft>
                <a:spcPts val="400"/>
              </a:spcAft>
              <a:defRPr sz="1800" b="1">
                <a:solidFill>
                  <a:srgbClr val="00F2FE"/>
                </a:solidFill>
              </a:defRPr>
            </a:pPr>
            <a:r>
              <a:t>• Key Patches Implemented:</a:t>
            </a:r>
          </a:p>
          <a:p>
            <a:pPr>
              <a:defRPr sz="1600">
                <a:solidFill>
                  <a:srgbClr val="8FA0B5"/>
                </a:solidFill>
              </a:defRPr>
            </a:pPr>
            <a:r>
              <a:t>  - Extended regex to support multi-faculty codes (e.g. F_01+F_13)</a:t>
            </a:r>
            <a:br/>
            <a:r>
              <a:t>  - Handled NaN values in Holiday_Before_After when read as empty strings</a:t>
            </a:r>
            <a:br/>
            <a:r>
              <a:t>  - Fixed PII check false-positives on 'Total_Enrolled_Students'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1928"/>
        </a:solidFill>
        <a:effectLst/>
      </p:bgPr>
    </p:bg>
    <p:spTree>
      <p:nvGrpSpPr>
        <p:cNvPr id="1" name=""/>
        <p:cNvGrpSpPr/>
        <p:nvPr/>
      </p:nvGrpSpPr>
      <p:grpSpPr/>
      <p:sp>
        <p:nvSpPr>
          <p:cNvPr id="2" name="TextBox 1"/>
          <p:cNvSpPr txBox="1"/>
          <p:nvPr/>
        </p:nvSpPr>
        <p:spPr>
          <a:xfrm>
            <a:off x="685800" y="457200"/>
            <a:ext cx="10820095" cy="914400"/>
          </a:xfrm>
          <a:prstGeom prst="rect">
            <a:avLst/>
          </a:prstGeom>
          <a:noFill/>
        </p:spPr>
        <p:txBody>
          <a:bodyPr wrap="square">
            <a:spAutoFit/>
          </a:bodyPr>
          <a:lstStyle/>
          <a:p>
            <a:pPr>
              <a:defRPr sz="3600" b="1">
                <a:solidFill>
                  <a:srgbClr val="00F2FE"/>
                </a:solidFill>
                <a:latin typeface="Helvetica"/>
              </a:defRPr>
            </a:pPr>
            <a:r>
              <a:t>Preprocessing &amp; Leakage Prevention</a:t>
            </a:r>
          </a:p>
        </p:txBody>
      </p:sp>
      <p:sp>
        <p:nvSpPr>
          <p:cNvPr id="3" name="TextBox 2"/>
          <p:cNvSpPr txBox="1"/>
          <p:nvPr/>
        </p:nvSpPr>
        <p:spPr>
          <a:xfrm>
            <a:off x="685800" y="1645920"/>
            <a:ext cx="10820095" cy="4572000"/>
          </a:xfrm>
          <a:prstGeom prst="rect">
            <a:avLst/>
          </a:prstGeom>
          <a:noFill/>
        </p:spPr>
        <p:txBody>
          <a:bodyPr wrap="square">
            <a:spAutoFit/>
          </a:bodyPr>
          <a:lstStyle/>
          <a:p>
            <a:pPr>
              <a:spcAft>
                <a:spcPts val="1200"/>
              </a:spcAft>
              <a:defRPr sz="1800">
                <a:solidFill>
                  <a:srgbClr val="FFFFFF"/>
                </a:solidFill>
              </a:defRPr>
            </a:pPr>
            <a:r>
              <a:t>• Leakage Elimination: Strict chronological sorting followed by shift operations (shift=1) on target-derived features to ensure future data is never leaked into training models.</a:t>
            </a:r>
          </a:p>
          <a:p>
            <a:pPr>
              <a:spcAft>
                <a:spcPts val="600"/>
              </a:spcAft>
              <a:defRPr sz="1800" b="1">
                <a:solidFill>
                  <a:srgbClr val="00F2FE"/>
                </a:solidFill>
              </a:defRPr>
            </a:pPr>
            <a:r>
              <a:t>• Engineered Features (29 total):</a:t>
            </a:r>
          </a:p>
          <a:p>
            <a:pPr>
              <a:spcAft>
                <a:spcPts val="1200"/>
              </a:spcAft>
              <a:defRPr sz="1800">
                <a:solidFill>
                  <a:srgbClr val="FFFFFF"/>
                </a:solidFill>
              </a:defRPr>
            </a:pPr>
            <a:r>
              <a:t>  - Previous_Lecture_Attendance_Percentage (Lag-1 value)</a:t>
            </a:r>
            <a:br/>
            <a:r>
              <a:t>  - Rolling_Average_Previous_3_Lectures (Moving trend)</a:t>
            </a:r>
            <a:br/>
            <a:r>
              <a:t>  - Subject_Historical_Average (Expanding window target encoding)</a:t>
            </a:r>
            <a:br/>
            <a:r>
              <a:t>  - Gap_Since_Previous_Lecture_Hours &amp; Days_Since_Last_Holiday</a:t>
            </a:r>
          </a:p>
          <a:p>
            <a:pPr>
              <a:defRPr sz="1800">
                <a:solidFill>
                  <a:srgbClr val="FBBF24"/>
                </a:solidFill>
              </a:defRPr>
            </a:pPr>
            <a:r>
              <a:t>• Target Exclusion: Target columns (Students_Present and Attendance_Percentage) and Lecture_ID are strictly removed from features before training.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1928"/>
        </a:solidFill>
        <a:effectLst/>
      </p:bgPr>
    </p:bg>
    <p:spTree>
      <p:nvGrpSpPr>
        <p:cNvPr id="1" name=""/>
        <p:cNvGrpSpPr/>
        <p:nvPr/>
      </p:nvGrpSpPr>
      <p:grpSpPr/>
      <p:sp>
        <p:nvSpPr>
          <p:cNvPr id="2" name="TextBox 1"/>
          <p:cNvSpPr txBox="1"/>
          <p:nvPr/>
        </p:nvSpPr>
        <p:spPr>
          <a:xfrm>
            <a:off x="685800" y="457200"/>
            <a:ext cx="10820095" cy="914400"/>
          </a:xfrm>
          <a:prstGeom prst="rect">
            <a:avLst/>
          </a:prstGeom>
          <a:noFill/>
        </p:spPr>
        <p:txBody>
          <a:bodyPr wrap="square">
            <a:spAutoFit/>
          </a:bodyPr>
          <a:lstStyle/>
          <a:p>
            <a:pPr>
              <a:defRPr sz="3600" b="1">
                <a:solidFill>
                  <a:srgbClr val="00F2FE"/>
                </a:solidFill>
                <a:latin typeface="Helvetica"/>
              </a:defRPr>
            </a:pPr>
            <a:r>
              <a:t>Exploratory Data Analysis Summary</a:t>
            </a:r>
          </a:p>
        </p:txBody>
      </p:sp>
      <p:sp>
        <p:nvSpPr>
          <p:cNvPr id="3" name="TextBox 2"/>
          <p:cNvSpPr txBox="1"/>
          <p:nvPr/>
        </p:nvSpPr>
        <p:spPr>
          <a:xfrm>
            <a:off x="685800" y="1645920"/>
            <a:ext cx="10820095" cy="4572000"/>
          </a:xfrm>
          <a:prstGeom prst="rect">
            <a:avLst/>
          </a:prstGeom>
          <a:noFill/>
        </p:spPr>
        <p:txBody>
          <a:bodyPr wrap="square">
            <a:spAutoFit/>
          </a:bodyPr>
          <a:lstStyle/>
          <a:p>
            <a:pPr>
              <a:spcAft>
                <a:spcPts val="1000"/>
              </a:spcAft>
              <a:defRPr sz="1800">
                <a:solidFill>
                  <a:srgbClr val="FFFFFF"/>
                </a:solidFill>
              </a:defRPr>
            </a:pPr>
            <a:r>
              <a:t>• Observations: 18 valid lecture sessions (2026-06-25 to 2026-08-07)</a:t>
            </a:r>
          </a:p>
          <a:p>
            <a:pPr>
              <a:spcAft>
                <a:spcPts val="1000"/>
              </a:spcAft>
              <a:defRPr sz="1800">
                <a:solidFill>
                  <a:srgbClr val="FFFFFF"/>
                </a:solidFill>
              </a:defRPr>
            </a:pPr>
            <a:r>
              <a:t>• Core Stats: Mean Attendance: 38.75% (~31 students) | Range: 10.0% to 75.0% | Max Present: 60 students out of 80</a:t>
            </a:r>
          </a:p>
          <a:p>
            <a:pPr>
              <a:spcAft>
                <a:spcPts val="1000"/>
              </a:spcAft>
              <a:defRPr sz="1800">
                <a:solidFill>
                  <a:srgbClr val="FFFFFF"/>
                </a:solidFill>
              </a:defRPr>
            </a:pPr>
            <a:r>
              <a:t>• Attendance Bands: Low (&lt;50%): 12 lectures (67%) | Medium (50%-75%): 6 lectures (33%)</a:t>
            </a:r>
          </a:p>
          <a:p>
            <a:pPr>
              <a:spcAft>
                <a:spcPts val="1000"/>
              </a:spcAft>
              <a:defRPr sz="1800">
                <a:solidFill>
                  <a:srgbClr val="F87171"/>
                </a:solidFill>
              </a:defRPr>
            </a:pPr>
            <a:r>
              <a:t>• ⚠️ High Attendance Class Not Represented: No lecture achieved attendance above 75%. The 'High' band (&gt;75%) was never observed. Models cannot learn or predict this band.</a:t>
            </a:r>
          </a:p>
          <a:p>
            <a:pPr>
              <a:defRPr sz="1800">
                <a:solidFill>
                  <a:srgbClr val="00F2FE"/>
                </a:solidFill>
              </a:defRPr>
            </a:pPr>
            <a:r>
              <a:t>• Baseline Fallback: 38.75% average represents a realistic operational fallback for schedulers.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928"/>
        </a:solidFill>
        <a:effectLst/>
      </p:bgPr>
    </p:bg>
    <p:spTree>
      <p:nvGrpSpPr>
        <p:cNvPr id="1" name=""/>
        <p:cNvGrpSpPr/>
        <p:nvPr/>
      </p:nvGrpSpPr>
      <p:grpSpPr/>
      <p:sp>
        <p:nvSpPr>
          <p:cNvPr id="2" name="TextBox 1"/>
          <p:cNvSpPr txBox="1"/>
          <p:nvPr/>
        </p:nvSpPr>
        <p:spPr>
          <a:xfrm>
            <a:off x="685800" y="457200"/>
            <a:ext cx="10820095" cy="914400"/>
          </a:xfrm>
          <a:prstGeom prst="rect">
            <a:avLst/>
          </a:prstGeom>
          <a:noFill/>
        </p:spPr>
        <p:txBody>
          <a:bodyPr wrap="square">
            <a:spAutoFit/>
          </a:bodyPr>
          <a:lstStyle/>
          <a:p>
            <a:pPr>
              <a:defRPr sz="3600" b="1">
                <a:solidFill>
                  <a:srgbClr val="00F2FE"/>
                </a:solidFill>
                <a:latin typeface="Helvetica"/>
              </a:defRPr>
            </a:pPr>
            <a:r>
              <a:t>Machine Learning Experiment Setup</a:t>
            </a:r>
          </a:p>
        </p:txBody>
      </p:sp>
      <p:sp>
        <p:nvSpPr>
          <p:cNvPr id="3" name="TextBox 2"/>
          <p:cNvSpPr txBox="1"/>
          <p:nvPr/>
        </p:nvSpPr>
        <p:spPr>
          <a:xfrm>
            <a:off x="685800" y="1645920"/>
            <a:ext cx="10820095" cy="4572000"/>
          </a:xfrm>
          <a:prstGeom prst="rect">
            <a:avLst/>
          </a:prstGeom>
          <a:noFill/>
        </p:spPr>
        <p:txBody>
          <a:bodyPr wrap="square">
            <a:spAutoFit/>
          </a:bodyPr>
          <a:lstStyle/>
          <a:p>
            <a:pPr>
              <a:spcAft>
                <a:spcPts val="1200"/>
              </a:spcAft>
              <a:defRPr sz="1800">
                <a:solidFill>
                  <a:srgbClr val="FFFFFF"/>
                </a:solidFill>
              </a:defRPr>
            </a:pPr>
            <a:r>
              <a:t>• Chronological Splitting: First 80% (14 rows) for training, last 20% (4 rows) for testing. Random splits were avoided to prevent temporal leakage.</a:t>
            </a:r>
          </a:p>
          <a:p>
            <a:pPr>
              <a:spcAft>
                <a:spcPts val="600"/>
              </a:spcAft>
              <a:defRPr sz="1800" b="1">
                <a:solidFill>
                  <a:srgbClr val="00F2FE"/>
                </a:solidFill>
              </a:defRPr>
            </a:pPr>
            <a:r>
              <a:t>• Tested Algorithms:</a:t>
            </a:r>
          </a:p>
          <a:p>
            <a:pPr>
              <a:spcAft>
                <a:spcPts val="1200"/>
              </a:spcAft>
              <a:defRPr sz="1800">
                <a:solidFill>
                  <a:srgbClr val="FFFFFF"/>
                </a:solidFill>
              </a:defRPr>
            </a:pPr>
            <a:r>
              <a:t>  - Regression: Linear Regression, Decision Tree, Random Forest, Gradient Boosting</a:t>
            </a:r>
            <a:br/>
            <a:r>
              <a:t>  - Classification: Logistic Regression, Decision Tree, Random Forest, SVM, k-NN</a:t>
            </a:r>
          </a:p>
          <a:p>
            <a:pPr>
              <a:defRPr sz="1800">
                <a:solidFill>
                  <a:srgbClr val="FBBF24"/>
                </a:solidFill>
              </a:defRPr>
            </a:pPr>
            <a:r>
              <a:t>• Evaluation Safeguard: Models must beat dummy baselines (mean-predictor for regression, most-frequent class for classification) on the test split to be considered valid.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928"/>
        </a:solidFill>
        <a:effectLst/>
      </p:bgPr>
    </p:bg>
    <p:spTree>
      <p:nvGrpSpPr>
        <p:cNvPr id="1" name=""/>
        <p:cNvGrpSpPr/>
        <p:nvPr/>
      </p:nvGrpSpPr>
      <p:grpSpPr/>
      <p:sp>
        <p:nvSpPr>
          <p:cNvPr id="2" name="TextBox 1"/>
          <p:cNvSpPr txBox="1"/>
          <p:nvPr/>
        </p:nvSpPr>
        <p:spPr>
          <a:xfrm>
            <a:off x="685800" y="457200"/>
            <a:ext cx="10820095" cy="914400"/>
          </a:xfrm>
          <a:prstGeom prst="rect">
            <a:avLst/>
          </a:prstGeom>
          <a:noFill/>
        </p:spPr>
        <p:txBody>
          <a:bodyPr wrap="square">
            <a:spAutoFit/>
          </a:bodyPr>
          <a:lstStyle/>
          <a:p>
            <a:pPr>
              <a:defRPr sz="3600" b="1">
                <a:solidFill>
                  <a:srgbClr val="00F2FE"/>
                </a:solidFill>
                <a:latin typeface="Helvetica"/>
              </a:defRPr>
            </a:pPr>
            <a:r>
              <a:t>Regression Results (Target: Students_Present)</a:t>
            </a:r>
          </a:p>
        </p:txBody>
      </p:sp>
      <p:sp>
        <p:nvSpPr>
          <p:cNvPr id="3" name="TextBox 2"/>
          <p:cNvSpPr txBox="1"/>
          <p:nvPr/>
        </p:nvSpPr>
        <p:spPr>
          <a:xfrm>
            <a:off x="685800" y="1645920"/>
            <a:ext cx="10820095" cy="4572000"/>
          </a:xfrm>
          <a:prstGeom prst="rect">
            <a:avLst/>
          </a:prstGeom>
          <a:noFill/>
        </p:spPr>
        <p:txBody>
          <a:bodyPr wrap="square">
            <a:spAutoFit/>
          </a:bodyPr>
          <a:lstStyle/>
          <a:p>
            <a:pPr>
              <a:spcAft>
                <a:spcPts val="800"/>
              </a:spcAft>
              <a:defRPr sz="1800">
                <a:solidFill>
                  <a:srgbClr val="FFFFFF"/>
                </a:solidFill>
              </a:defRPr>
            </a:pPr>
            <a:r>
              <a:t>• Dummy Baseline MAE: 14.5000 | Best Model (Random Forest) MAE: 14.0192</a:t>
            </a:r>
          </a:p>
          <a:p>
            <a:pPr>
              <a:spcAft>
                <a:spcPts val="800"/>
              </a:spcAft>
              <a:defRPr sz="1800">
                <a:solidFill>
                  <a:srgbClr val="FFFFFF"/>
                </a:solidFill>
              </a:defRPr>
            </a:pPr>
            <a:r>
              <a:t>• Random Forest Evaluation Metrics: RMSE: 15.1268 | R²: 0.1174 | MAPE: 43.05%</a:t>
            </a:r>
          </a:p>
          <a:p>
            <a:pPr>
              <a:spcAft>
                <a:spcPts val="800"/>
              </a:spcAft>
              <a:defRPr sz="1800">
                <a:solidFill>
                  <a:srgbClr val="FBBF24"/>
                </a:solidFill>
              </a:defRPr>
            </a:pPr>
            <a:r>
              <a:t>• ⚠️ Exploratory Classification: The regression model marginally beat the baseline (by 0.48 students) on a test split of only 4 observations. This result is exploratory only and cannot establish reliable generalization.</a:t>
            </a:r>
          </a:p>
          <a:p>
            <a:pPr>
              <a:defRPr sz="1800">
                <a:solidFill>
                  <a:srgbClr val="FFFFFF"/>
                </a:solidFill>
              </a:defRPr>
            </a:pPr>
            <a:r>
              <a:t>• Baseline Comparison: Random Forest explains only ~12% of the test variance (R²=0.1174), and predictions have an average relative error of 43%. All other regressors (LR, DT, GBR) were worse than baseline.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928"/>
        </a:solidFill>
        <a:effectLst/>
      </p:bgPr>
    </p:bg>
    <p:spTree>
      <p:nvGrpSpPr>
        <p:cNvPr id="1" name=""/>
        <p:cNvGrpSpPr/>
        <p:nvPr/>
      </p:nvGrpSpPr>
      <p:grpSpPr/>
      <p:sp>
        <p:nvSpPr>
          <p:cNvPr id="2" name="TextBox 1"/>
          <p:cNvSpPr txBox="1"/>
          <p:nvPr/>
        </p:nvSpPr>
        <p:spPr>
          <a:xfrm>
            <a:off x="685800" y="457200"/>
            <a:ext cx="10820095" cy="914400"/>
          </a:xfrm>
          <a:prstGeom prst="rect">
            <a:avLst/>
          </a:prstGeom>
          <a:noFill/>
        </p:spPr>
        <p:txBody>
          <a:bodyPr wrap="square">
            <a:spAutoFit/>
          </a:bodyPr>
          <a:lstStyle/>
          <a:p>
            <a:pPr>
              <a:defRPr sz="3600" b="1">
                <a:solidFill>
                  <a:srgbClr val="00F2FE"/>
                </a:solidFill>
                <a:latin typeface="Helvetica"/>
              </a:defRPr>
            </a:pPr>
            <a:r>
              <a:t>Classification Results (Target: Attendance_Band)</a:t>
            </a:r>
          </a:p>
        </p:txBody>
      </p:sp>
      <p:sp>
        <p:nvSpPr>
          <p:cNvPr id="3" name="TextBox 2"/>
          <p:cNvSpPr txBox="1"/>
          <p:nvPr/>
        </p:nvSpPr>
        <p:spPr>
          <a:xfrm>
            <a:off x="685800" y="1645920"/>
            <a:ext cx="10820095" cy="4572000"/>
          </a:xfrm>
          <a:prstGeom prst="rect">
            <a:avLst/>
          </a:prstGeom>
          <a:noFill/>
        </p:spPr>
        <p:txBody>
          <a:bodyPr wrap="square">
            <a:spAutoFit/>
          </a:bodyPr>
          <a:lstStyle/>
          <a:p>
            <a:pPr>
              <a:spcAft>
                <a:spcPts val="1000"/>
              </a:spcAft>
              <a:defRPr sz="1800">
                <a:solidFill>
                  <a:srgbClr val="FFFFFF"/>
                </a:solidFill>
              </a:defRPr>
            </a:pPr>
            <a:r>
              <a:t>• Target Band Categories: Low (&lt;50%), Medium (50%-75% inclusive), High (&gt;75%).</a:t>
            </a:r>
          </a:p>
          <a:p>
            <a:pPr>
              <a:spcAft>
                <a:spcPts val="1000"/>
              </a:spcAft>
              <a:defRPr sz="1800">
                <a:solidFill>
                  <a:srgbClr val="FFFFFF"/>
                </a:solidFill>
              </a:defRPr>
            </a:pPr>
            <a:r>
              <a:t>• Dummy Classifier Accuracy: 0.5000 | Best Classifier (Logistic Regression) Accuracy: 0.5000</a:t>
            </a:r>
          </a:p>
          <a:p>
            <a:pPr>
              <a:spcAft>
                <a:spcPts val="1000"/>
              </a:spcAft>
              <a:defRPr sz="1800">
                <a:solidFill>
                  <a:srgbClr val="FFFFFF"/>
                </a:solidFill>
              </a:defRPr>
            </a:pPr>
            <a:r>
              <a:t>• Weighted F1-score: 0.3333 | Accuracy: 0.5000 (Ties dummy baseline exactly)</a:t>
            </a:r>
          </a:p>
          <a:p>
            <a:pPr>
              <a:spcAft>
                <a:spcPts val="1000"/>
              </a:spcAft>
              <a:defRPr sz="1800">
                <a:solidFill>
                  <a:srgbClr val="F87171"/>
                </a:solidFill>
              </a:defRPr>
            </a:pPr>
            <a:r>
              <a:t>• 🚫 Invalid for Operational Use: Since no model beat the baseline and the 'High' band was never observed, the classification model is invalid. Automated attendance-band decisions have been disabled.</a:t>
            </a:r>
          </a:p>
          <a:p>
            <a:pPr>
              <a:defRPr sz="1800">
                <a:solidFill>
                  <a:srgbClr val="00F2FE"/>
                </a:solidFill>
              </a:defRPr>
            </a:pPr>
            <a:r>
              <a:t>• Class Fallback: Predict historical most-frequent class (Low) as reference only.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1928"/>
        </a:solidFill>
        <a:effectLst/>
      </p:bgPr>
    </p:bg>
    <p:spTree>
      <p:nvGrpSpPr>
        <p:cNvPr id="1" name=""/>
        <p:cNvGrpSpPr/>
        <p:nvPr/>
      </p:nvGrpSpPr>
      <p:grpSpPr/>
      <p:sp>
        <p:nvSpPr>
          <p:cNvPr id="2" name="TextBox 1"/>
          <p:cNvSpPr txBox="1"/>
          <p:nvPr/>
        </p:nvSpPr>
        <p:spPr>
          <a:xfrm>
            <a:off x="685800" y="457200"/>
            <a:ext cx="10820095" cy="914400"/>
          </a:xfrm>
          <a:prstGeom prst="rect">
            <a:avLst/>
          </a:prstGeom>
          <a:noFill/>
        </p:spPr>
        <p:txBody>
          <a:bodyPr wrap="square">
            <a:spAutoFit/>
          </a:bodyPr>
          <a:lstStyle/>
          <a:p>
            <a:pPr>
              <a:defRPr sz="3600" b="1">
                <a:solidFill>
                  <a:srgbClr val="00F2FE"/>
                </a:solidFill>
                <a:latin typeface="Helvetica"/>
              </a:defRPr>
            </a:pPr>
            <a:r>
              <a:t>Streamlit User Interface &amp; Safety Warnings</a:t>
            </a:r>
          </a:p>
        </p:txBody>
      </p:sp>
      <p:sp>
        <p:nvSpPr>
          <p:cNvPr id="3" name="TextBox 2"/>
          <p:cNvSpPr txBox="1"/>
          <p:nvPr/>
        </p:nvSpPr>
        <p:spPr>
          <a:xfrm>
            <a:off x="685800" y="1645920"/>
            <a:ext cx="10820095" cy="4572000"/>
          </a:xfrm>
          <a:prstGeom prst="rect">
            <a:avLst/>
          </a:prstGeom>
          <a:noFill/>
        </p:spPr>
        <p:txBody>
          <a:bodyPr wrap="square">
            <a:spAutoFit/>
          </a:bodyPr>
          <a:lstStyle/>
          <a:p>
            <a:pPr>
              <a:spcAft>
                <a:spcPts val="1000"/>
              </a:spcAft>
              <a:defRPr sz="1800">
                <a:solidFill>
                  <a:srgbClr val="FFFFFF"/>
                </a:solidFill>
              </a:defRPr>
            </a:pPr>
            <a:r>
              <a:t>• Historical Analysis (Tab 1): Visualizes trends, timeline graphs, and day-wise patterns from cleaned logs.</a:t>
            </a:r>
          </a:p>
          <a:p>
            <a:pPr>
              <a:spcAft>
                <a:spcPts val="1000"/>
              </a:spcAft>
              <a:defRPr sz="1800">
                <a:solidFill>
                  <a:srgbClr val="FFFFFF"/>
                </a:solidFill>
              </a:defRPr>
            </a:pPr>
            <a:r>
              <a:t>• Predictive Inference (Tab 2): Renders future lecture predictions based on schedule input.</a:t>
            </a:r>
          </a:p>
          <a:p>
            <a:pPr>
              <a:spcAft>
                <a:spcPts val="400"/>
              </a:spcAft>
              <a:defRPr sz="1800" b="1">
                <a:solidFill>
                  <a:srgbClr val="00F2FE"/>
                </a:solidFill>
              </a:defRPr>
            </a:pPr>
            <a:r>
              <a:t>• Prominent Scientific Warnings Rendered:</a:t>
            </a:r>
          </a:p>
          <a:p>
            <a:pPr>
              <a:defRPr sz="1600">
                <a:solidFill>
                  <a:srgbClr val="8FA0B5"/>
                </a:solidFill>
              </a:defRPr>
            </a:pPr>
            <a:r>
              <a:t>  - Insufficient history warning shows dataset size of 18</a:t>
            </a:r>
            <a:br/>
            <a:r>
              <a:t>  - Regression output is labeled as 'Exploratory / Limited Data'</a:t>
            </a:r>
            <a:br/>
            <a:r>
              <a:t>  - Attendance band prediction is flagged as unavailable and blocked</a:t>
            </a:r>
            <a:br/>
            <a:r>
              <a:t>  - Historical-average baseline (38.75%) is shown as the primary fallback prediction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928"/>
        </a:solidFill>
        <a:effectLst/>
      </p:bgPr>
    </p:bg>
    <p:spTree>
      <p:nvGrpSpPr>
        <p:cNvPr id="1" name=""/>
        <p:cNvGrpSpPr/>
        <p:nvPr/>
      </p:nvGrpSpPr>
      <p:grpSpPr/>
      <p:sp>
        <p:nvSpPr>
          <p:cNvPr id="2" name="TextBox 1"/>
          <p:cNvSpPr txBox="1"/>
          <p:nvPr/>
        </p:nvSpPr>
        <p:spPr>
          <a:xfrm>
            <a:off x="685800" y="457200"/>
            <a:ext cx="10820095" cy="914400"/>
          </a:xfrm>
          <a:prstGeom prst="rect">
            <a:avLst/>
          </a:prstGeom>
          <a:noFill/>
        </p:spPr>
        <p:txBody>
          <a:bodyPr wrap="square">
            <a:spAutoFit/>
          </a:bodyPr>
          <a:lstStyle/>
          <a:p>
            <a:pPr>
              <a:defRPr sz="3600" b="1">
                <a:solidFill>
                  <a:srgbClr val="00F2FE"/>
                </a:solidFill>
                <a:latin typeface="Helvetica"/>
              </a:defRPr>
            </a:pPr>
            <a:r>
              <a:t>Project Limitations &amp; Data Constraints</a:t>
            </a:r>
          </a:p>
        </p:txBody>
      </p:sp>
      <p:sp>
        <p:nvSpPr>
          <p:cNvPr id="3" name="TextBox 2"/>
          <p:cNvSpPr txBox="1"/>
          <p:nvPr/>
        </p:nvSpPr>
        <p:spPr>
          <a:xfrm>
            <a:off x="685800" y="1645920"/>
            <a:ext cx="10820095" cy="4572000"/>
          </a:xfrm>
          <a:prstGeom prst="rect">
            <a:avLst/>
          </a:prstGeom>
          <a:noFill/>
        </p:spPr>
        <p:txBody>
          <a:bodyPr wrap="square">
            <a:spAutoFit/>
          </a:bodyPr>
          <a:lstStyle/>
          <a:p>
            <a:pPr>
              <a:spcAft>
                <a:spcPts val="1000"/>
              </a:spcAft>
              <a:defRPr sz="1800">
                <a:solidFill>
                  <a:srgbClr val="FFFFFF"/>
                </a:solidFill>
              </a:defRPr>
            </a:pPr>
            <a:r>
              <a:t>• Tiny Sample Size: 18 total lecture sessions are insufficient for generalizable supervised learning.</a:t>
            </a:r>
          </a:p>
          <a:p>
            <a:pPr>
              <a:spcAft>
                <a:spcPts val="1000"/>
              </a:spcAft>
              <a:defRPr sz="1800">
                <a:solidFill>
                  <a:srgbClr val="FFFFFF"/>
                </a:solidFill>
              </a:defRPr>
            </a:pPr>
            <a:r>
              <a:t>• 4-Row Test Evaluation: The chronological 80/20 partition yields a 4-row test split, meaning evaluation metrics are statistically unstable.</a:t>
            </a:r>
          </a:p>
          <a:p>
            <a:pPr>
              <a:spcAft>
                <a:spcPts val="1000"/>
              </a:spcAft>
              <a:defRPr sz="1800">
                <a:solidFill>
                  <a:srgbClr val="F87171"/>
                </a:solidFill>
              </a:defRPr>
            </a:pPr>
            <a:r>
              <a:t>• Missing Class Representation: Zero observations in the 'High' attendance category, skewing the classifier to Low/Medium.</a:t>
            </a:r>
          </a:p>
          <a:p>
            <a:pPr>
              <a:defRPr sz="1800">
                <a:solidFill>
                  <a:srgbClr val="00F2FE"/>
                </a:solidFill>
              </a:defRPr>
            </a:pPr>
            <a:r>
              <a:t>• Data Integrity Constraint: No fake data generation, student PII fabrication, or interpolation was allowed, keeping the project scientifically honest.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928"/>
        </a:solidFill>
        <a:effectLst/>
      </p:bgPr>
    </p:bg>
    <p:spTree>
      <p:nvGrpSpPr>
        <p:cNvPr id="1" name=""/>
        <p:cNvGrpSpPr/>
        <p:nvPr/>
      </p:nvGrpSpPr>
      <p:grpSpPr/>
      <p:sp>
        <p:nvSpPr>
          <p:cNvPr id="2" name="TextBox 1"/>
          <p:cNvSpPr txBox="1"/>
          <p:nvPr/>
        </p:nvSpPr>
        <p:spPr>
          <a:xfrm>
            <a:off x="685800" y="457200"/>
            <a:ext cx="10820095" cy="914400"/>
          </a:xfrm>
          <a:prstGeom prst="rect">
            <a:avLst/>
          </a:prstGeom>
          <a:noFill/>
        </p:spPr>
        <p:txBody>
          <a:bodyPr wrap="square">
            <a:spAutoFit/>
          </a:bodyPr>
          <a:lstStyle/>
          <a:p>
            <a:pPr>
              <a:defRPr sz="3600" b="1">
                <a:solidFill>
                  <a:srgbClr val="00F2FE"/>
                </a:solidFill>
                <a:latin typeface="Helvetica"/>
              </a:defRPr>
            </a:pPr>
            <a:r>
              <a:t>Conclusion</a:t>
            </a:r>
          </a:p>
        </p:txBody>
      </p:sp>
      <p:sp>
        <p:nvSpPr>
          <p:cNvPr id="3" name="TextBox 2"/>
          <p:cNvSpPr txBox="1"/>
          <p:nvPr/>
        </p:nvSpPr>
        <p:spPr>
          <a:xfrm>
            <a:off x="914400" y="2011680"/>
            <a:ext cx="10362895" cy="4114800"/>
          </a:xfrm>
          <a:prstGeom prst="rect">
            <a:avLst/>
          </a:prstGeom>
          <a:noFill/>
        </p:spPr>
        <p:txBody>
          <a:bodyPr wrap="square">
            <a:spAutoFit/>
          </a:bodyPr>
          <a:lstStyle/>
          <a:p>
            <a:pPr>
              <a:spcAft>
                <a:spcPts val="2000"/>
              </a:spcAft>
              <a:defRPr sz="2200" b="1" i="1">
                <a:solidFill>
                  <a:srgbClr val="FFFFFF"/>
                </a:solidFill>
                <a:latin typeface="Helvetica"/>
              </a:defRPr>
            </a:pPr>
            <a:r>
              <a:t>"The available dataset contained only 18 valid lecture observations. The regression experiment produced a small improvement over the historical-average baseline, but the test set contained only four observations, so the result is exploratory and cannot establish reliable generalization. The classification model did not outperform the dummy baseline and should not be used for operational decisions. More physically verified lecture records are required before deploying a reliable predictive system."</a:t>
            </a:r>
          </a:p>
          <a:p>
            <a:pPr>
              <a:defRPr sz="1600">
                <a:solidFill>
                  <a:srgbClr val="8FA0B5"/>
                </a:solidFill>
                <a:latin typeface="Helvetica"/>
              </a:defRPr>
            </a:pPr>
            <a:r>
              <a:t>— Official Project Conclusion Statement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