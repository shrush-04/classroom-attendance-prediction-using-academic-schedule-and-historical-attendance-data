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Emphasize upfront: all data is 100% synthetic. No real student info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colleges require 75% attendance. Early identification of defaulters is the motivation. Synthetic data solves the privacy challenge without sacrificing statistical realism.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clear problem definitions. Regression for continuous prediction, classification for binary flag. Privacy constraint solved by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objectives spanning the complete data science lifecycle. Emphasize objective 6: model selection uses RMSE for regression, F1-score + Recall for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Dataset built in two phases. All values from the validated CSV. 25 checks cover file existence, row counts, ID ranges, missing values, duplicate check, attendance calculation accuracy, and privacy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Privacy is a design principle, not an afterthought. All six principles were implemented from day one. Emphasize the source isolation principle.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Classes_Attended is excluded because Attendance_Percentage = Classes_Attended / Total_Classes × 100. Including it would let the model reverse-compute the target —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object is critical: it ensures preprocessing is fitted only on training data, preventing leakage from test data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EDA insight: prior academic behavior predicts current attendance. Logistical factors (travel, medical leave, late count) have near-zero correlation. Correlation ≠ causation — especially important for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GradientBoosting achieves lowest RMSE (11.3952) and highest R² (0.6874). R² = 0.6874 means 68.74% of variance explained. Remaining ~31% comes from features with near-zero correlation (travel, medical, late count).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GradientBoosting selected for highest F1 (0.8606). RandomForest has higher ROC-AUC (0.9276) but lower F1 — F1 is the primary criterion for early-warning systems. Recall=0.8587 means we correctly flag ~86% of all actual Defaulters.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Consolidate results. Emphasize: GradientBoosting wins both tasks. Margin over RandomForest is small — both are strong ensemble methods. Both model pipelines are saved and ready for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significant limitation is synthetic data. But this is also the project's ethical strength. SHAP explainability is the most impactful near-term future scope for real institutional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two key takeaways: (1) Technical: GradientBoosting ensemble methods consistently outperform simpler models on mixed-feature attendance data. (2) Ethical: synthetic data is a viable, responsible substitute for real student records in academic ML projects. 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B4D8"/>
                </a:solidFill>
                <a:latin typeface="Calibri"/>
              </a:rPr>
              <a:t>Privacy-Preserving Synthetic Student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B4D8"/>
                </a:solidFill>
                <a:latin typeface="Calibri"/>
              </a:rPr>
              <a:t>Attendance Analysis and Prediction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94457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240280"/>
            <a:ext cx="85313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900">
                <a:solidFill>
                  <a:srgbClr val="E0F2FE"/>
                </a:solidFill>
                <a:latin typeface="Calibri"/>
              </a:rPr>
              <a:t>A Complete Data Science Project</a:t>
            </a:r>
          </a:p>
          <a:p>
            <a:pPr>
              <a:spcBef>
                <a:spcPts val="300"/>
              </a:spcBef>
            </a:pPr>
            <a:r>
              <a:rPr sz="1900">
                <a:solidFill>
                  <a:srgbClr val="E0F2FE"/>
                </a:solidFill>
                <a:latin typeface="Calibri"/>
              </a:rPr>
              <a:t>Data Generation  ·  EDA  ·  Regression  ·  Classification</a:t>
            </a:r>
          </a:p>
          <a:p>
            <a:pPr>
              <a:spcBef>
                <a:spcPts val="300"/>
              </a:spcBef>
            </a:pPr>
            <a:r>
              <a:rPr sz="1900">
                <a:solidFill>
                  <a:srgbClr val="E0F2FE"/>
                </a:solidFill>
                <a:latin typeface="Calibri"/>
              </a:rPr>
              <a:t>Dataset: 205 Students · 4,100 Records · Fully Synthetic</a:t>
            </a:r>
          </a:p>
          <a:p>
            <a:pPr>
              <a:spcBef>
                <a:spcPts val="300"/>
              </a:spcBef>
            </a:pPr>
            <a:r>
              <a:rPr sz="1900">
                <a:solidFill>
                  <a:srgbClr val="E0F2FE"/>
                </a:solidFill>
                <a:latin typeface="Calibri"/>
              </a:rPr>
              <a:t>Best Models: GradientBoostingRegressor  &amp;  GradientBoostingClassifier</a:t>
            </a:r>
          </a:p>
          <a:p>
            <a:pPr>
              <a:spcBef>
                <a:spcPts val="300"/>
              </a:spcBef>
            </a:pPr>
            <a:r>
              <a:rPr sz="1900">
                <a:solidFill>
                  <a:srgbClr val="E0F2FE"/>
                </a:solidFill>
                <a:latin typeface="Calibri"/>
              </a:rPr>
              <a:t>Department: Computer Engineering &amp; MCA  | 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473952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⚠ SYNTHETIC DATA — No real student names, roll numbers, or email IDs used.  |  Slide 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F2FE"/>
                </a:solidFill>
                <a:latin typeface="Calibri"/>
              </a:rPr>
              <a:t>Why student attendance prediction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Student attendance is a key indicator of academic engagement &amp; performance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Institutions enforce a mandatory 75% minimum for examination eligibility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Identifying at-risk students early enables timely counseling intervention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ML models can predict attendance status from academic &amp; engagement features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Real student data creates PII exposure &amp; re-identification privacy risks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Solution: fully synthetic data that mirrors realistic patterns ethically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473952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⚠ SYNTHETIC DATA — No real student names, roll numbers, or email IDs used.  |  Slide 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F2FE"/>
                </a:solidFill>
                <a:latin typeface="Calibri"/>
              </a:rPr>
              <a:t>Two machine learning tasks defined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Student absenteeism is often identified too late for effective intervention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Faculty need a data-driven early-warning tool to flag at-risk students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FFC300"/>
                </a:solidFill>
                <a:latin typeface="Calibri"/>
              </a:rPr>
              <a:t>▶  Task 1 — Regression: Predict Attendance_Percentage (continuous 0–100%)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FFC300"/>
                </a:solidFill>
                <a:latin typeface="Calibri"/>
              </a:rPr>
              <a:t>▶  Task 2 — Classification: Predict Attendance_Status → Regular (≥75%) / Defaulter (&lt;75%)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Challenge: real attendance data contains PII — names, roll numbers, emails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Solution: synthetic data preserves statistical realism without privacy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473952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⚠ SYNTHETIC DATA — No real student names, roll numbers, or email IDs used.  |  Slide 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1.  Generate a statistically realistic, fully synthetic 205-student dataset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2.  Validate with 25 automated data quality &amp; privacy checks — all must pass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3.  Perform EDA with 11 professional visualizations &amp; correlation analysis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4.  Train &amp; compare 4 regression models → predict Attendance_Percentage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5.  Train &amp; compare 4 classification models → predict Regular / Defaulter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6.  Select best models using principled metric-based criteria (not arbitrary)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473952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⚠ SYNTHETIC DATA — No real student names, roll numbers, or email IDs used.  |  Slide 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Synthetic Dataset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F2FE"/>
                </a:solidFill>
                <a:latin typeface="Calibri"/>
              </a:rPr>
              <a:t>data/student_attendance_205_students.csv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4,100 rows × 21 columns  |  205 students (STU0001–STU0205)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CE cohort (STU0001–STU0060): Third Year, Fifth Semester — seed=42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MCA cohort (STU0061–STU0205): Final Year, Third Semester — seed=242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20 records/student: 5 subjects × 4 attendance periods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Attendance rule: Regular ≥ 75% | Defaulter &lt; 75%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Validation: 25 checks, ALL 25 PASSED (validate_final_dataset.py)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417320"/>
            <a:ext cx="5212080" cy="43891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087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Dataset Statistics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Mean Attendance  :  68.67%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Median           :  70.00%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Std Deviation    :  20.21%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Regular Records  :  1,834  (44.73%)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Defaulter Records:  2,266  (55.27%)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Missing Values   :  0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Duplicate Rows   :  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73952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⚠ SYNTHETIC DATA — No real student names, roll numbers, or email IDs used.  |  Slide 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Data Privacy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F2FE"/>
                </a:solidFill>
                <a:latin typeface="Calibri"/>
              </a:rPr>
              <a:t>Six privacy principles implemented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C300"/>
                </a:solidFill>
                <a:latin typeface="Calibri"/>
              </a:rPr>
              <a:t>"This project uses a synthetic student attendance dataset created for academic demonstration. It does not contain real student names, roll numbers, email IDs, or actual attendance records of identifiable students."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>
                <a:solidFill>
                  <a:srgbClr val="E0F2FE"/>
                </a:solidFill>
                <a:latin typeface="Calibri"/>
              </a:rPr>
              <a:t>•  Data Minimization — no personal data collected or stored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E0F2FE"/>
                </a:solidFill>
                <a:latin typeface="Calibri"/>
              </a:rPr>
              <a:t>•  Full Anonymization — STU0001–STU0205; no real names or roll numbers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E0F2FE"/>
                </a:solidFill>
                <a:latin typeface="Calibri"/>
              </a:rPr>
              <a:t>•  No Re-identification — no mapping table created between IDs and real students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E0F2FE"/>
                </a:solidFill>
                <a:latin typeface="Calibri"/>
              </a:rPr>
              <a:t>•  Synthetic Labels — every file, notebook, and chart is clearly labeled SYNTHETIC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E0F2FE"/>
                </a:solidFill>
                <a:latin typeface="Calibri"/>
              </a:rPr>
              <a:t>•  Source Isolation — private_original_data/ never read by any project script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E0F2FE"/>
                </a:solidFill>
                <a:latin typeface="Calibri"/>
              </a:rPr>
              <a:t>•  No Discrimination — Defaulter label used for academic analysis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73952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⚠ SYNTHETIC DATA — No real student names, roll numbers, or email IDs used.  |  Slide 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Dataset Columns — 21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F2FE"/>
                </a:solidFill>
                <a:latin typeface="Calibri"/>
              </a:rPr>
              <a:t>Feature categorization for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>
                <a:solidFill>
                  <a:srgbClr val="FFC300"/>
                </a:solidFill>
                <a:latin typeface="Calibri"/>
              </a:rPr>
              <a:t>▶  REGRESSION TARGET:  Attendance_Percentage  (continuous 0–100%)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C300"/>
                </a:solidFill>
                <a:latin typeface="Calibri"/>
              </a:rPr>
              <a:t>▶  CLASSIFICATION TARGET:  Attendance_Status  (Regular / Defaulter)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745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CATEGORICAL PREDICTORS (5 used in models):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  Gender · Department · Year · Semester · Subject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NUMERIC PREDICTORS (10 used in models):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  Age · Previous_Attendance_Percentage · Assignment_Score · Internal_Marks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  Study_Hours_Per_Week · Medical_Leave_Days · Travel_Distance_KM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  Previous_Exam_Score · Late_Count · Online_Class_Attendance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EXCLUDED — DATA LEAKAGE:  Classes_Attended · Total_Classes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E0F2FE"/>
                </a:solidFill>
                <a:latin typeface="Calibri"/>
              </a:rPr>
              <a:t>  (mathematically derived from Attendance_Percentage — including would be circular)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473952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⚠ SYNTHETIC DATA — No real student names, roll numbers, or email IDs used.  |  Slide 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Data 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F2FE"/>
                </a:solidFill>
                <a:latin typeface="Calibri"/>
              </a:rPr>
              <a:t>Shared by regression &amp;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45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>
                <a:solidFill>
                  <a:srgbClr val="E0F2FE"/>
                </a:solidFill>
                <a:latin typeface="Calibri"/>
              </a:rPr>
              <a:t>•  Imputation  —  Numeric: median  |  Categorical: most_frequent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E0F2FE"/>
                </a:solidFill>
                <a:latin typeface="Calibri"/>
              </a:rPr>
              <a:t>•  Encoding   —  Categorical: OneHotEncoder (handle_unknown='ignore')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E0F2FE"/>
                </a:solidFill>
                <a:latin typeface="Calibri"/>
              </a:rPr>
              <a:t>•  Scaling    —  Numeric: StandardScaler (zero mean, unit variance)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E0F2FE"/>
                </a:solidFill>
                <a:latin typeface="Calibri"/>
              </a:rPr>
              <a:t>•  Split      —  80% Train / 20% Test  |  random_state=42  |  Stratified for classification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E0F2FE"/>
                </a:solidFill>
                <a:latin typeface="Calibri"/>
              </a:rPr>
              <a:t>•  Pipeline   —  sklearn Pipeline: Preprocessor → Estimator (single reusable object)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11274552" cy="2377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10916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E0F2FE"/>
                </a:solidFill>
                <a:latin typeface="Calibri"/>
              </a:rPr>
              <a:t>Pipeline Architecture: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0F2FE"/>
                </a:solidFill>
                <a:latin typeface="Calibri"/>
              </a:rPr>
              <a:t>  15 Predictors → ColumnTransformer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0F2FE"/>
                </a:solidFill>
                <a:latin typeface="Calibri"/>
              </a:rPr>
              <a:t>       ├── Numeric Branch:  SimpleImputer(median) → StandardScaler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0F2FE"/>
                </a:solidFill>
                <a:latin typeface="Calibri"/>
              </a:rPr>
              <a:t>       └── Categorical Branch:  SimpleImputer(most_frequent) → OneHotEncoder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0F2FE"/>
                </a:solidFill>
                <a:latin typeface="Calibri"/>
              </a:rPr>
              <a:t>  → Regressor / Classifier → Predictions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73952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⚠ SYNTHETIC DATA — No real student names, roll numbers, or email IDs used.  |  Slide 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F2FE"/>
                </a:solidFill>
                <a:latin typeface="Calibri"/>
              </a:rPr>
              <a:t>11 visualizations · Correlation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217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Mean: 68.67%  |  Median: 70.00%  |  Std Dev: 20.21%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Defaulter: 2,266 records (55.27%)  |  Regular: 1,834 records (44.73%)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Subject variation &lt; 1% — attendance is student-driven, not subject-driven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Prior behavior dominates: Previous_Attendance_Pct (r=0.72), Internal_Marks (r=0.67)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Logistical factors: Travel_Distance_KM (r=0.04) — no meaningful correlation</a:t>
            </a:r>
          </a:p>
        </p:txBody>
      </p:sp>
      <p:pic>
        <p:nvPicPr>
          <p:cNvPr id="7" name="Picture 6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25880"/>
            <a:ext cx="530352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473952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⚠ SYNTHETIC DATA — No real student names, roll numbers, or email IDs used.  |  Slide 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Regression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F2FE"/>
                </a:solidFill>
                <a:latin typeface="Calibri"/>
              </a:rPr>
              <a:t>Target: Attendance_Percentage (continuous)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E0F2FE"/>
                </a:solidFill>
                <a:latin typeface="Calibri"/>
              </a:rPr>
              <a:t>4 Models: LinearRegression · DecisionTree · RandomForest · GradientBoosting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0F2FE"/>
                </a:solidFill>
                <a:latin typeface="Calibri"/>
              </a:rPr>
              <a:t>Selection Criterion: Lowest RMSE + Highest R²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0F2FE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0F2FE"/>
                </a:solidFill>
                <a:latin typeface="Calibri"/>
              </a:rPr>
              <a:t>  Model                      MAE        RMSE       R²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0F2FE"/>
                </a:solidFill>
                <a:latin typeface="Calibri"/>
              </a:rPr>
              <a:t>  LinearRegression           9.3679     11.6108    0.6755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0F2FE"/>
                </a:solidFill>
                <a:latin typeface="Calibri"/>
              </a:rPr>
              <a:t>  DecisionTreeRegressor      10.2138    12.8313    0.6037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0F2FE"/>
                </a:solidFill>
                <a:latin typeface="Calibri"/>
              </a:rPr>
              <a:t>  RandomForestRegressor      9.1673     11.4357    0.6852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0F2FE"/>
                </a:solidFill>
                <a:latin typeface="Calibri"/>
              </a:rPr>
              <a:t>  GradientBoostingRegressor  9.1786     11.3952    0.6874  ← BEST</a:t>
            </a:r>
          </a:p>
        </p:txBody>
      </p:sp>
      <p:pic>
        <p:nvPicPr>
          <p:cNvPr id="7" name="Picture 6" descr="regression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25880"/>
            <a:ext cx="530352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473952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⚠ SYNTHETIC DATA — No real student names, roll numbers, or email IDs used.  |  Slide 10 / 14  |  Source: outputs/regression_model_results.csv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Classification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F2FE"/>
                </a:solidFill>
                <a:latin typeface="Calibri"/>
              </a:rPr>
              <a:t>Target: Attendance_Status — Regular / Defaulter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E0F2FE"/>
                </a:solidFill>
                <a:latin typeface="Calibri"/>
              </a:rPr>
              <a:t>4 Models · Selection: Highest F1-Score, then Recall (NOT accuracy alone)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0F2FE"/>
                </a:solidFill>
                <a:latin typeface="Calibri"/>
              </a:rPr>
              <a:t>Regular=0  |  Defaulter=1  |  Stratified 80/20 split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0F2FE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0F2FE"/>
                </a:solidFill>
                <a:latin typeface="Calibri"/>
              </a:rPr>
              <a:t>  Model                       Acc     Prec    Recall  F1      AUC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0F2FE"/>
                </a:solidFill>
                <a:latin typeface="Calibri"/>
              </a:rPr>
              <a:t>  LogisticRegression          0.8390  0.8512  0.8587  0.8549  0.9246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0F2FE"/>
                </a:solidFill>
                <a:latin typeface="Calibri"/>
              </a:rPr>
              <a:t>  DecisionTreeClassifier      0.8268  0.8659  0.8124  0.8383  0.8841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0F2FE"/>
                </a:solidFill>
                <a:latin typeface="Calibri"/>
              </a:rPr>
              <a:t>  RandomForestClassifier      0.8451  0.8655  0.8521  0.8587  0.9276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0F2FE"/>
                </a:solidFill>
                <a:latin typeface="Calibri"/>
              </a:rPr>
              <a:t>  GradientBoostingClassifier  0.8463  0.8625  0.8587  0.8606  0.9189  ← BEST</a:t>
            </a:r>
          </a:p>
        </p:txBody>
      </p:sp>
      <p:pic>
        <p:nvPicPr>
          <p:cNvPr id="7" name="Picture 6" descr="best_classifier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25880"/>
            <a:ext cx="530352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473952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⚠ SYNTHETIC DATA — No real student names, roll numbers, or email IDs used.  |  Slide 11 / 14  |  Source: outputs/classification_model_results.csv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Final Model Comparison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F2FE"/>
                </a:solidFill>
                <a:latin typeface="Calibri"/>
              </a:rPr>
              <a:t>Verified from actual CSV output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300"/>
                </a:solidFill>
                <a:latin typeface="Calibri"/>
              </a:rPr>
              <a:t>All values sourced directly from outputs/regression_model_results.csv and outputs/classification_model_results.csv — no values estimated or fabricated.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FFC300"/>
                </a:solidFill>
                <a:latin typeface="Calibri"/>
              </a:rPr>
              <a:t>▶  BEST REGRESSION MODEL: GradientBoostingRegressor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     MAE: 9.1786  |  MSE: 129.8510  |  RMSE: 11.3952  |  R²: 0.6874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     Saved: models/best_regression_model.joblib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C300"/>
                </a:solidFill>
                <a:latin typeface="Calibri"/>
              </a:rPr>
              <a:t>▶  BEST CLASSIFICATION MODEL: GradientBoostingClassifier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     Accuracy: 84.63%  |  Precision: 86.25%  |  Recall: 85.87%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     F1-Score: 0.8606  |  ROC-AUC: 0.9189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     Saved: models/best_classification_model.joblib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Gradient Boosting outperforms on both tasks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Linear/Logistic models are competitive — confirm value of interpretable baselines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73952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⚠ SYNTHETIC DATA — No real student names, roll numbers, or email IDs used.  |  Slide 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Limitations and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LIMITATIONS: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Synthetic data — may not fully reflect real student behavior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No causal analysis — correlations identified, not proven causes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No temporal modeling — period totals, not week-by-week trends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External factors absent: health, family, income not captured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Retraining required before any real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FUTURE SCOPE: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Time-series LSTM for week-by-week deterioration detection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SHAP explainability: WHY is a student flagged as Defaulter?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Multi-class: Regular / At-Risk / Critical-Defaulter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Streamlit dashboard for real-time teacher/HOD alerts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E0F2FE"/>
                </a:solidFill>
                <a:latin typeface="Calibri"/>
              </a:rPr>
              <a:t>•  Real data integration with proper institutional consent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473952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⚠ SYNTHETIC DATA — No real student names, roll numbers, or email IDs used.  |  Slide 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F2FE"/>
                </a:solidFill>
                <a:latin typeface="Calibri"/>
              </a:rPr>
              <a:t>Phases 0–5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4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Synthetic dataset: 205 students · 4,100 records · 25/25 validation checks passed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EDA: prior academic behavior dominates; logistical factors show near-zero correlation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Best Regression:  GradientBoostingRegressor  |  RMSE: 11.3952  |  R²: 0.6874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Best Classification:  GradientBoostingClassifier  |  F1: 0.8606  |  Recall: 0.8587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Both model pipelines saved (.joblib) and ready for deployment or retraining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E0F2FE"/>
                </a:solidFill>
                <a:latin typeface="Calibri"/>
              </a:rPr>
              <a:t>•  Zero real student data — ethically compliant and safe for public submission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94960"/>
            <a:ext cx="112745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C300"/>
                </a:solidFill>
                <a:latin typeface="Calibri"/>
              </a:rPr>
              <a:t>"This project demonstrates that a complete, production-quality attendance prediction system can be built ethically, using synthetic data that mirrors real-world statistical properties — without compromising any student's privacy."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73952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⚠ SYNTHETIC DATA — No real student names, roll numbers, or email IDs used.  |  Slide 14 / 14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